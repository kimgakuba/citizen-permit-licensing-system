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1"/>
    <p:sldMasterId id="2147483933" r:id="rId2"/>
    <p:sldMasterId id="2147483969" r:id="rId3"/>
    <p:sldMasterId id="2147483981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02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93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48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1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18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3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1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66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2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31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427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314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847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28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830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993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290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87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959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548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4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362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498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047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2920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083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35279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1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794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39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8066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0433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5090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187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00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483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96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1172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232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286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1941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019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0711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64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404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27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1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949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322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4370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19646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83761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1354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55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919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  <p:sldLayoutId id="2147483930" r:id="rId15"/>
    <p:sldLayoutId id="2147483931" r:id="rId16"/>
    <p:sldLayoutId id="21474839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3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9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741E525-A1EA-4735-BCA0-B36299C1128C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27620E9-1598-4B30-BDE1-16DA3C2258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87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webp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433138"/>
            <a:ext cx="8676222" cy="3200400"/>
          </a:xfrm>
        </p:spPr>
        <p:txBody>
          <a:bodyPr/>
          <a:lstStyle/>
          <a:p>
            <a:r>
              <a:rPr lang="en-US" dirty="0" smtClean="0"/>
              <a:t>Citizen Permit &amp; Licensing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875581"/>
          </a:xfrm>
        </p:spPr>
        <p:txBody>
          <a:bodyPr/>
          <a:lstStyle/>
          <a:p>
            <a:r>
              <a:rPr lang="en-US" dirty="0" smtClean="0"/>
              <a:t>Streamlining government services through digital transformation, transparency and efficiency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51012" y="4934309"/>
            <a:ext cx="867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Student</a:t>
            </a:r>
            <a:r>
              <a:rPr lang="en-US" dirty="0"/>
              <a:t>: NGABONZIZA Kim </a:t>
            </a:r>
            <a:r>
              <a:rPr lang="en-US" dirty="0"/>
              <a:t>Gakuba</a:t>
            </a:r>
            <a:r>
              <a:rPr lang="en-US" dirty="0"/>
              <a:t> (27670)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3505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Definition &amp; context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16" y="1957137"/>
            <a:ext cx="3366597" cy="3497179"/>
          </a:xfrm>
        </p:spPr>
      </p:pic>
      <p:sp>
        <p:nvSpPr>
          <p:cNvPr id="5" name="TextBox 4"/>
          <p:cNvSpPr txBox="1"/>
          <p:nvPr/>
        </p:nvSpPr>
        <p:spPr>
          <a:xfrm>
            <a:off x="560717" y="2514600"/>
            <a:ext cx="70271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Inefficient manual processes for permit and license applications lead to delays, errors, and lack of transparency in government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Specific Issue: Citizens face long wait times, redundant paperwork, and inconsistent reviews across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Current Pain Points: High administrative burden, risk of corruption, and poor tracking of application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CONTEXT: </a:t>
            </a:r>
            <a:r>
              <a:rPr lang="en-US" dirty="0" smtClean="0"/>
              <a:t>used within government regulatory bodies and municipal offices where managing the end-to-end lifecycle of permits is critical for public service.</a:t>
            </a:r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28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555" y="0"/>
            <a:ext cx="9692640" cy="1325562"/>
          </a:xfrm>
        </p:spPr>
        <p:txBody>
          <a:bodyPr/>
          <a:lstStyle/>
          <a:p>
            <a:r>
              <a:rPr lang="en-US" dirty="0" smtClean="0"/>
              <a:t>Target users &amp; project goals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404" y="1325562"/>
            <a:ext cx="1541101" cy="1150219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389" y="1325562"/>
            <a:ext cx="2123716" cy="1150219"/>
          </a:xfrm>
        </p:spPr>
      </p:pic>
      <p:sp>
        <p:nvSpPr>
          <p:cNvPr id="7" name="TextBox 6"/>
          <p:cNvSpPr txBox="1"/>
          <p:nvPr/>
        </p:nvSpPr>
        <p:spPr>
          <a:xfrm>
            <a:off x="1509623" y="2475781"/>
            <a:ext cx="44943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Target Users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Citizens:</a:t>
            </a:r>
            <a:r>
              <a:rPr lang="en-US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Seeking faster, transparent service.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Businesses:</a:t>
            </a:r>
            <a:r>
              <a:rPr lang="en-US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requiring operational licenses.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staff:</a:t>
            </a:r>
            <a:r>
              <a:rPr lang="en-US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needing efficient workflow tools.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Administrators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requiring oversight data.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8875" y="2562045"/>
            <a:ext cx="51672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Project goals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Transparency: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real-time tracking for all stakeholders.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Efficiency: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Reduce processing delays by 50%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delivery: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digital-first, user friendly access.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Compliance: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standardized validation rules.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20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735" y="943632"/>
            <a:ext cx="10058400" cy="962104"/>
          </a:xfrm>
        </p:spPr>
        <p:txBody>
          <a:bodyPr/>
          <a:lstStyle/>
          <a:p>
            <a:r>
              <a:rPr lang="en-US" dirty="0" smtClean="0"/>
              <a:t>End-to-end lifecycle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12" y="2484095"/>
            <a:ext cx="3015914" cy="2978821"/>
          </a:xfrm>
        </p:spPr>
      </p:pic>
      <p:sp>
        <p:nvSpPr>
          <p:cNvPr id="4" name="TextBox 3"/>
          <p:cNvSpPr txBox="1"/>
          <p:nvPr/>
        </p:nvSpPr>
        <p:spPr>
          <a:xfrm>
            <a:off x="1097280" y="2047033"/>
            <a:ext cx="1039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streamlined digital workflow ensuring rapid processing and accountability.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15914" y="2680428"/>
            <a:ext cx="79966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Submission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Citizens submit applications via secure online portal with document upload.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5914" y="3296608"/>
            <a:ext cx="80852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Validation</a:t>
            </a:r>
          </a:p>
          <a:p>
            <a:r>
              <a:rPr lang="en-US" dirty="0" smtClean="0"/>
              <a:t>Automated system checks for completeness and valid prerequisites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15914" y="3912787"/>
            <a:ext cx="80852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Review</a:t>
            </a:r>
          </a:p>
          <a:p>
            <a:r>
              <a:rPr lang="en-US" dirty="0" smtClean="0"/>
              <a:t>Departmental staff review, comment and process approvals digitally.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15914" y="4501843"/>
            <a:ext cx="80852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Issuance</a:t>
            </a:r>
          </a:p>
          <a:p>
            <a:r>
              <a:rPr lang="en-US" dirty="0" smtClean="0"/>
              <a:t>Official permit is generated and issued electronically to the citizen.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826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Analytics enhance governance by transforming raw data into actionable insights: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/>
              <a:t>Bottleneck analysis:</a:t>
            </a:r>
            <a:r>
              <a:rPr lang="en-US" dirty="0" smtClean="0"/>
              <a:t> identity which departments have the longest hold times.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/>
              <a:t>Resource allocation:</a:t>
            </a:r>
            <a:r>
              <a:rPr lang="en-US" dirty="0" smtClean="0"/>
              <a:t> Predict licensing fees for budget planning.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/>
              <a:t>Revenue forecasting:</a:t>
            </a:r>
            <a:r>
              <a:rPr lang="en-US" dirty="0" smtClean="0"/>
              <a:t> predict licensing fees for budget planning.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/>
              <a:t>Fraud detection:</a:t>
            </a:r>
            <a:r>
              <a:rPr lang="en-US" dirty="0" smtClean="0"/>
              <a:t> flag anomalies in application patterns.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899" y="2743200"/>
            <a:ext cx="4401339" cy="3416968"/>
          </a:xfrm>
        </p:spPr>
      </p:pic>
      <p:sp>
        <p:nvSpPr>
          <p:cNvPr id="8" name="Text Placeholder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intelligence (bi)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69848" y="2117558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Data-Driven decision making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98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3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4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201</TotalTime>
  <Words>293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8" baseType="lpstr">
      <vt:lpstr>Arial</vt:lpstr>
      <vt:lpstr>Arial Black</vt:lpstr>
      <vt:lpstr>Century Gothic</vt:lpstr>
      <vt:lpstr>Courier New</vt:lpstr>
      <vt:lpstr>Garamond</vt:lpstr>
      <vt:lpstr>Rockwell</vt:lpstr>
      <vt:lpstr>Rockwell Condensed</vt:lpstr>
      <vt:lpstr>Tw Cen MT</vt:lpstr>
      <vt:lpstr>Wingdings</vt:lpstr>
      <vt:lpstr>Mesh</vt:lpstr>
      <vt:lpstr>Droplet</vt:lpstr>
      <vt:lpstr>Wood Type</vt:lpstr>
      <vt:lpstr>Savon</vt:lpstr>
      <vt:lpstr>Citizen Permit &amp; Licensing System</vt:lpstr>
      <vt:lpstr>Problem Definition &amp; context</vt:lpstr>
      <vt:lpstr>Target users &amp; project goals</vt:lpstr>
      <vt:lpstr>End-to-end lifecycle</vt:lpstr>
      <vt:lpstr>Business intelligence (bi)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Citizen Permit &amp; Licensing System</dc:title>
  <dc:creator>KIM</dc:creator>
  <cp:lastModifiedBy>KIM</cp:lastModifiedBy>
  <cp:revision>17</cp:revision>
  <dcterms:created xsi:type="dcterms:W3CDTF">2025-11-28T19:14:04Z</dcterms:created>
  <dcterms:modified xsi:type="dcterms:W3CDTF">2025-12-04T00:30:37Z</dcterms:modified>
</cp:coreProperties>
</file>